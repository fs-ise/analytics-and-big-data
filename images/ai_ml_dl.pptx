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7920038" cy="6480175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93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C15D0F-1898-A714-0E77-0B65CA6887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0008" y="1060529"/>
            <a:ext cx="5940029" cy="2256061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en-CA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63D2320-60B0-5A28-446A-DD5E602A6E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0008" y="3403592"/>
            <a:ext cx="5940029" cy="156454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B23EEF7-F6C6-CF1B-905B-59F64BE7DC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CA3D6-4542-4F4A-9BC8-9B57FC178811}" type="datetimeFigureOut">
              <a:rPr lang="en-CA" smtClean="0"/>
              <a:t>2026-04-19</a:t>
            </a:fld>
            <a:endParaRPr lang="en-CA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032F449-E74A-C5FB-E09E-35CAF77AA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D2913E9-2A0C-E32C-581E-5E55F65C4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EECBA-8F5A-4C5B-87C9-CA7B8B4E5B6E}" type="slidenum">
              <a:rPr lang="en-CA" smtClean="0"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05439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4F7005-2CD2-6E7F-07A0-03B73BB6D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BAE14E8-48DD-BD87-D89E-DBC6FF3E1C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7506FA7-631D-8A92-6B92-E28FB2378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CA3D6-4542-4F4A-9BC8-9B57FC178811}" type="datetimeFigureOut">
              <a:rPr lang="en-CA" smtClean="0"/>
              <a:t>2026-04-19</a:t>
            </a:fld>
            <a:endParaRPr lang="en-CA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FF41A5A-62D0-BACB-6C93-191C22907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2E6184F-3EE0-0A3C-571B-9AF9A6C7E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EECBA-8F5A-4C5B-87C9-CA7B8B4E5B6E}" type="slidenum">
              <a:rPr lang="en-CA" smtClean="0"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82597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FC4B5B-506A-7AEB-32D5-4D16542A9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381" y="1615548"/>
            <a:ext cx="6831033" cy="269557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en-CA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104E521-8F74-D546-97FB-97051F67C6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381" y="4336621"/>
            <a:ext cx="6831033" cy="141753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25F82E2-9A2A-F06E-52DA-C14FE55BE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CA3D6-4542-4F4A-9BC8-9B57FC178811}" type="datetimeFigureOut">
              <a:rPr lang="en-CA" smtClean="0"/>
              <a:t>2026-04-19</a:t>
            </a:fld>
            <a:endParaRPr lang="en-CA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642EC9E-6EAA-5BFC-33A9-6142D64C0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3734B7D-FA4C-4408-805C-827E18C5A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EECBA-8F5A-4C5B-87C9-CA7B8B4E5B6E}" type="slidenum">
              <a:rPr lang="en-CA" smtClean="0"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66226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87F3A18-FADE-A3D3-5A1C-DF5C6A9E1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1B30BD5-7385-D97C-FD5A-35ACD4FD23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4503" y="1725047"/>
            <a:ext cx="3366016" cy="411161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CA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ED1E957-BCAD-01B7-901F-F564FD52D4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009519" y="1725047"/>
            <a:ext cx="3366016" cy="4111612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CA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9DF2A9E-648D-1E76-6062-866E83971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CA3D6-4542-4F4A-9BC8-9B57FC178811}" type="datetimeFigureOut">
              <a:rPr lang="en-CA" smtClean="0"/>
              <a:t>2026-04-19</a:t>
            </a:fld>
            <a:endParaRPr lang="en-CA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DF4B079-F976-25D7-59C5-4E942B9B4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DB2CD0F-C18C-3BEF-B031-7D3DBDDFB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EECBA-8F5A-4C5B-87C9-CA7B8B4E5B6E}" type="slidenum">
              <a:rPr lang="en-CA" smtClean="0"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84502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7F20CD-39C2-DD93-3459-39F1A4964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534" y="345014"/>
            <a:ext cx="6831033" cy="1252534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CA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B48B9B3-13EF-2793-5EF5-DC5B6AA9BA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5538" y="1588544"/>
            <a:ext cx="3350547" cy="77852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44E7B25-460B-5D61-359A-B017CE0F3B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5538" y="2367065"/>
            <a:ext cx="3350547" cy="348159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CA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E4E9F305-B9D2-9DC8-31DE-8FA68CD4D3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009519" y="1588544"/>
            <a:ext cx="3367048" cy="77852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33CF407-E23E-2ECC-1039-A22180EEB8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009519" y="2367065"/>
            <a:ext cx="3367048" cy="3481594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CA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B1CC95D-7DBB-9D1C-2AD3-DD48AB854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CA3D6-4542-4F4A-9BC8-9B57FC178811}" type="datetimeFigureOut">
              <a:rPr lang="en-CA" smtClean="0"/>
              <a:t>2026-04-19</a:t>
            </a:fld>
            <a:endParaRPr lang="en-CA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EC7418D-97B1-AAD7-CA66-F7B234648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5A51F6F-F2CE-73CE-6811-5A9842F41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EECBA-8F5A-4C5B-87C9-CA7B8B4E5B6E}" type="slidenum">
              <a:rPr lang="en-CA" smtClean="0"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7616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40B1C52-7AF0-4F58-B26F-A38399E75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CA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73466D4-7B4E-6E8A-8105-59FB67FD2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CA3D6-4542-4F4A-9BC8-9B57FC178811}" type="datetimeFigureOut">
              <a:rPr lang="en-CA" smtClean="0"/>
              <a:t>2026-04-19</a:t>
            </a:fld>
            <a:endParaRPr lang="en-CA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46FFE18-865D-B726-8750-4160C63EC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2091FF7-2277-DF19-03CF-6400A652A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EECBA-8F5A-4C5B-87C9-CA7B8B4E5B6E}" type="slidenum">
              <a:rPr lang="en-CA" smtClean="0"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904052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E20769B-8004-5FFF-6BC7-8EA0823FB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CA3D6-4542-4F4A-9BC8-9B57FC178811}" type="datetimeFigureOut">
              <a:rPr lang="en-CA" smtClean="0"/>
              <a:t>2026-04-19</a:t>
            </a:fld>
            <a:endParaRPr lang="en-CA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1F7A685-5443-6F1F-5647-3C8C04848E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DF3EBD5-AC1D-A5A1-A74D-D3647AF3A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EECBA-8F5A-4C5B-87C9-CA7B8B4E5B6E}" type="slidenum">
              <a:rPr lang="en-CA" smtClean="0"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81350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25132E0-BA42-C882-604F-007E61055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535" y="432012"/>
            <a:ext cx="2554418" cy="151204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CA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9209960-3BE7-724B-575D-A0EC1048F9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7051" y="933029"/>
            <a:ext cx="4009519" cy="460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CA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DDD8F93-DFB8-7F3B-9299-9A2490147F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5535" y="1944053"/>
            <a:ext cx="2554418" cy="360159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8D6BB8D-CB1E-C455-D634-F89E1736D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CA3D6-4542-4F4A-9BC8-9B57FC178811}" type="datetimeFigureOut">
              <a:rPr lang="en-CA" smtClean="0"/>
              <a:t>2026-04-19</a:t>
            </a:fld>
            <a:endParaRPr lang="en-CA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D695678-66BB-6D4A-44E6-4F4746495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D3BC0F2-0363-9B2D-EE4B-5790CF98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EECBA-8F5A-4C5B-87C9-CA7B8B4E5B6E}" type="slidenum">
              <a:rPr lang="en-CA" smtClean="0"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80791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22184E6-A93D-F0C3-1CB2-CA1F28414D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535" y="432012"/>
            <a:ext cx="2554418" cy="1512041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CA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9C61E99-6B6E-3CA4-4395-525FCE8C8B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367051" y="933029"/>
            <a:ext cx="4009519" cy="460512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CA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D6417BD-DA2C-4A96-0D9F-7760124E7A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5535" y="1944053"/>
            <a:ext cx="2554418" cy="360159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006AFA7-0303-3BF9-A9C9-C5887262A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CA3D6-4542-4F4A-9BC8-9B57FC178811}" type="datetimeFigureOut">
              <a:rPr lang="en-CA" smtClean="0"/>
              <a:t>2026-04-19</a:t>
            </a:fld>
            <a:endParaRPr lang="en-CA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3542E8C-8C25-82AF-4157-6C33FDDA3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629AC87-DA2B-D391-65EC-2CDBBFEF8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EECBA-8F5A-4C5B-87C9-CA7B8B4E5B6E}" type="slidenum">
              <a:rPr lang="en-CA" smtClean="0"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63544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03C811-250B-3D0B-FC27-9A94259046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CA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517FEB3-1156-193C-4516-07A12B13EF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77FA131-43D1-0278-35EA-D35C3C6B8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CA3D6-4542-4F4A-9BC8-9B57FC178811}" type="datetimeFigureOut">
              <a:rPr lang="en-CA" smtClean="0"/>
              <a:t>2026-04-19</a:t>
            </a:fld>
            <a:endParaRPr lang="en-CA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FD12FD3-2AB1-252D-DB8D-899958C3F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1888D63-6847-F46C-0A2F-C0963B377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EECBA-8F5A-4C5B-87C9-CA7B8B4E5B6E}" type="slidenum">
              <a:rPr lang="en-CA" smtClean="0"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54320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B7B1537C-372E-E828-DF56-B704233D30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5667778" y="345009"/>
            <a:ext cx="1707758" cy="5491649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CA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2B6FB48-4548-41AD-1478-7D9A5522DD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44502" y="345009"/>
            <a:ext cx="5024274" cy="5491649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83271DD-4505-C023-5DF5-447C6B87CA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CA3D6-4542-4F4A-9BC8-9B57FC178811}" type="datetimeFigureOut">
              <a:rPr lang="en-CA" smtClean="0"/>
              <a:t>2026-04-19</a:t>
            </a:fld>
            <a:endParaRPr lang="en-CA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B014B7F-02A1-5A67-D8E6-F2737FCA6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73C0B46-D001-6E61-3135-ADC326629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0EECBA-8F5A-4C5B-87C9-CA7B8B4E5B6E}" type="slidenum">
              <a:rPr lang="en-CA" smtClean="0"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31186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32737251-67BB-A621-471B-40405B7DC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4506" y="345014"/>
            <a:ext cx="6831033" cy="1252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CA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F210F1B-5003-9CCF-85A1-FF9264CD5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4506" y="1725047"/>
            <a:ext cx="6831033" cy="41116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CA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7238F73-E659-762E-2AC3-6FBA4E8E9B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4505" y="6006166"/>
            <a:ext cx="1782009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7CA3D6-4542-4F4A-9BC8-9B57FC178811}" type="datetimeFigureOut">
              <a:rPr lang="en-CA" smtClean="0"/>
              <a:t>2026-04-19</a:t>
            </a:fld>
            <a:endParaRPr lang="en-CA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F35FF22-00D1-214F-E292-004442D818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623516" y="6006166"/>
            <a:ext cx="2673013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58F5F56-4866-2ED1-FB49-C6F88ACF45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93530" y="6006166"/>
            <a:ext cx="1782009" cy="3450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0EECBA-8F5A-4C5B-87C9-CA7B8B4E5B6E}" type="slidenum">
              <a:rPr lang="en-CA" smtClean="0"/>
              <a:t>‹Nr.›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5551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: abgerundete Ecken 3">
            <a:extLst>
              <a:ext uri="{FF2B5EF4-FFF2-40B4-BE49-F238E27FC236}">
                <a16:creationId xmlns:a16="http://schemas.microsoft.com/office/drawing/2014/main" id="{F97A3B0C-4C1A-C3D6-99EE-5C174F86F250}"/>
              </a:ext>
            </a:extLst>
          </p:cNvPr>
          <p:cNvSpPr/>
          <p:nvPr/>
        </p:nvSpPr>
        <p:spPr>
          <a:xfrm>
            <a:off x="298169" y="148319"/>
            <a:ext cx="7412736" cy="6065520"/>
          </a:xfrm>
          <a:prstGeom prst="roundRect">
            <a:avLst>
              <a:gd name="adj" fmla="val 119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7587F34B-52FE-473C-11FB-F95262823133}"/>
              </a:ext>
            </a:extLst>
          </p:cNvPr>
          <p:cNvSpPr txBox="1"/>
          <p:nvPr/>
        </p:nvSpPr>
        <p:spPr>
          <a:xfrm>
            <a:off x="298169" y="153120"/>
            <a:ext cx="2348236" cy="382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noProof="1"/>
              <a:t>Artificial Intelligence</a:t>
            </a:r>
          </a:p>
        </p:txBody>
      </p:sp>
      <p:sp>
        <p:nvSpPr>
          <p:cNvPr id="9" name="Rechteck: abgerundete Ecken 8">
            <a:extLst>
              <a:ext uri="{FF2B5EF4-FFF2-40B4-BE49-F238E27FC236}">
                <a16:creationId xmlns:a16="http://schemas.microsoft.com/office/drawing/2014/main" id="{0A32908B-9144-893F-1CF8-C85DCEB01C04}"/>
              </a:ext>
            </a:extLst>
          </p:cNvPr>
          <p:cNvSpPr/>
          <p:nvPr/>
        </p:nvSpPr>
        <p:spPr>
          <a:xfrm>
            <a:off x="849085" y="1846357"/>
            <a:ext cx="6688554" cy="4214017"/>
          </a:xfrm>
          <a:prstGeom prst="roundRect">
            <a:avLst>
              <a:gd name="adj" fmla="val 1190"/>
            </a:avLst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0D1CEF04-B37F-7584-EEFE-5CC769F42795}"/>
              </a:ext>
            </a:extLst>
          </p:cNvPr>
          <p:cNvSpPr txBox="1"/>
          <p:nvPr/>
        </p:nvSpPr>
        <p:spPr>
          <a:xfrm>
            <a:off x="855062" y="1851151"/>
            <a:ext cx="2348236" cy="382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noProof="1"/>
              <a:t>Machine Learning</a:t>
            </a:r>
          </a:p>
        </p:txBody>
      </p:sp>
      <p:sp>
        <p:nvSpPr>
          <p:cNvPr id="12" name="Rechteck: abgerundete Ecken 11">
            <a:extLst>
              <a:ext uri="{FF2B5EF4-FFF2-40B4-BE49-F238E27FC236}">
                <a16:creationId xmlns:a16="http://schemas.microsoft.com/office/drawing/2014/main" id="{E366B343-877A-28EA-C492-A145863DC5CE}"/>
              </a:ext>
            </a:extLst>
          </p:cNvPr>
          <p:cNvSpPr/>
          <p:nvPr/>
        </p:nvSpPr>
        <p:spPr>
          <a:xfrm>
            <a:off x="1341369" y="3608939"/>
            <a:ext cx="6080504" cy="2296049"/>
          </a:xfrm>
          <a:prstGeom prst="roundRect">
            <a:avLst>
              <a:gd name="adj" fmla="val 1190"/>
            </a:avLst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6DA91169-A7B7-A57B-1C83-C6C0481FA596}"/>
              </a:ext>
            </a:extLst>
          </p:cNvPr>
          <p:cNvSpPr txBox="1"/>
          <p:nvPr/>
        </p:nvSpPr>
        <p:spPr>
          <a:xfrm>
            <a:off x="1341369" y="3607756"/>
            <a:ext cx="2348236" cy="3824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noProof="1"/>
              <a:t>Deep Learning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EA2F1F33-E91A-1C9A-C1E2-61F215F43CDE}"/>
              </a:ext>
            </a:extLst>
          </p:cNvPr>
          <p:cNvSpPr txBox="1"/>
          <p:nvPr/>
        </p:nvSpPr>
        <p:spPr>
          <a:xfrm>
            <a:off x="707357" y="757100"/>
            <a:ext cx="17819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/>
              <a:t>Speech recognition</a:t>
            </a: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F5B96A87-1A69-CF69-6625-67E8B50EE632}"/>
              </a:ext>
            </a:extLst>
          </p:cNvPr>
          <p:cNvSpPr txBox="1"/>
          <p:nvPr/>
        </p:nvSpPr>
        <p:spPr>
          <a:xfrm>
            <a:off x="796005" y="1340393"/>
            <a:ext cx="21561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/>
              <a:t>Automated programming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78B8D999-7EA2-0452-3EE8-A588DFA9F710}"/>
              </a:ext>
            </a:extLst>
          </p:cNvPr>
          <p:cNvSpPr txBox="1"/>
          <p:nvPr/>
        </p:nvSpPr>
        <p:spPr>
          <a:xfrm>
            <a:off x="1769923" y="1045280"/>
            <a:ext cx="21561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/>
              <a:t>Knowledge representation</a:t>
            </a:r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55679268-E6D9-AF92-B3AA-F22FAFA14C94}"/>
              </a:ext>
            </a:extLst>
          </p:cNvPr>
          <p:cNvSpPr txBox="1"/>
          <p:nvPr/>
        </p:nvSpPr>
        <p:spPr>
          <a:xfrm>
            <a:off x="2444669" y="677614"/>
            <a:ext cx="14726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/>
              <a:t>Problem solving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4AA7D98B-06B5-AECB-8BD0-45E2DAC8175A}"/>
              </a:ext>
            </a:extLst>
          </p:cNvPr>
          <p:cNvSpPr txBox="1"/>
          <p:nvPr/>
        </p:nvSpPr>
        <p:spPr>
          <a:xfrm>
            <a:off x="3849399" y="862331"/>
            <a:ext cx="14726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/>
              <a:t>Search strategies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21A663FC-76DC-BE3E-340E-0BD6165F9FCE}"/>
              </a:ext>
            </a:extLst>
          </p:cNvPr>
          <p:cNvSpPr txBox="1"/>
          <p:nvPr/>
        </p:nvSpPr>
        <p:spPr>
          <a:xfrm>
            <a:off x="3337117" y="1356494"/>
            <a:ext cx="23717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/>
              <a:t>Natural language processing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8CDBB013-FD78-9E73-268C-31F1AD2C5866}"/>
              </a:ext>
            </a:extLst>
          </p:cNvPr>
          <p:cNvSpPr txBox="1"/>
          <p:nvPr/>
        </p:nvSpPr>
        <p:spPr>
          <a:xfrm>
            <a:off x="3674785" y="492897"/>
            <a:ext cx="23717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/>
              <a:t>Intelligent robotics</a:t>
            </a:r>
          </a:p>
        </p:txBody>
      </p:sp>
      <p:sp>
        <p:nvSpPr>
          <p:cNvPr id="22" name="Textfeld 21">
            <a:extLst>
              <a:ext uri="{FF2B5EF4-FFF2-40B4-BE49-F238E27FC236}">
                <a16:creationId xmlns:a16="http://schemas.microsoft.com/office/drawing/2014/main" id="{C58DF9B1-2622-6F68-5470-0C1FE3D8FBCF}"/>
              </a:ext>
            </a:extLst>
          </p:cNvPr>
          <p:cNvSpPr txBox="1"/>
          <p:nvPr/>
        </p:nvSpPr>
        <p:spPr>
          <a:xfrm>
            <a:off x="4855697" y="727186"/>
            <a:ext cx="23717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/>
              <a:t>Visual perception</a:t>
            </a:r>
          </a:p>
        </p:txBody>
      </p:sp>
      <p:sp>
        <p:nvSpPr>
          <p:cNvPr id="23" name="Textfeld 22">
            <a:extLst>
              <a:ext uri="{FF2B5EF4-FFF2-40B4-BE49-F238E27FC236}">
                <a16:creationId xmlns:a16="http://schemas.microsoft.com/office/drawing/2014/main" id="{3C766AB0-E3A2-EE98-2E42-FBE498628BCE}"/>
              </a:ext>
            </a:extLst>
          </p:cNvPr>
          <p:cNvSpPr txBox="1"/>
          <p:nvPr/>
        </p:nvSpPr>
        <p:spPr>
          <a:xfrm>
            <a:off x="4899954" y="1120287"/>
            <a:ext cx="23717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/>
              <a:t>Planning and scheduling</a:t>
            </a:r>
          </a:p>
        </p:txBody>
      </p:sp>
      <p:sp>
        <p:nvSpPr>
          <p:cNvPr id="24" name="Textfeld 23">
            <a:extLst>
              <a:ext uri="{FF2B5EF4-FFF2-40B4-BE49-F238E27FC236}">
                <a16:creationId xmlns:a16="http://schemas.microsoft.com/office/drawing/2014/main" id="{E7BC25D7-A29D-8C72-2DD1-788B901FD543}"/>
              </a:ext>
            </a:extLst>
          </p:cNvPr>
          <p:cNvSpPr txBox="1"/>
          <p:nvPr/>
        </p:nvSpPr>
        <p:spPr>
          <a:xfrm>
            <a:off x="3649113" y="2247403"/>
            <a:ext cx="21561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/>
              <a:t>Naïve Bayes Classification</a:t>
            </a:r>
          </a:p>
        </p:txBody>
      </p:sp>
      <p:sp>
        <p:nvSpPr>
          <p:cNvPr id="25" name="Textfeld 24">
            <a:extLst>
              <a:ext uri="{FF2B5EF4-FFF2-40B4-BE49-F238E27FC236}">
                <a16:creationId xmlns:a16="http://schemas.microsoft.com/office/drawing/2014/main" id="{D7467F2E-3EBA-520D-6AD6-4178CA5F6E8F}"/>
              </a:ext>
            </a:extLst>
          </p:cNvPr>
          <p:cNvSpPr txBox="1"/>
          <p:nvPr/>
        </p:nvSpPr>
        <p:spPr>
          <a:xfrm>
            <a:off x="979180" y="2733169"/>
            <a:ext cx="26088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/>
              <a:t>Support Vector Machines (SVM)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EC9D4A83-F372-1A60-B60D-9238DF92D308}"/>
              </a:ext>
            </a:extLst>
          </p:cNvPr>
          <p:cNvSpPr txBox="1"/>
          <p:nvPr/>
        </p:nvSpPr>
        <p:spPr>
          <a:xfrm>
            <a:off x="1168469" y="3140131"/>
            <a:ext cx="28697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/>
              <a:t>Principal component analysis (PCA)</a:t>
            </a:r>
          </a:p>
        </p:txBody>
      </p:sp>
      <p:sp>
        <p:nvSpPr>
          <p:cNvPr id="27" name="Textfeld 26">
            <a:extLst>
              <a:ext uri="{FF2B5EF4-FFF2-40B4-BE49-F238E27FC236}">
                <a16:creationId xmlns:a16="http://schemas.microsoft.com/office/drawing/2014/main" id="{6A4305C1-9A82-1167-5221-CF8C08159412}"/>
              </a:ext>
            </a:extLst>
          </p:cNvPr>
          <p:cNvSpPr txBox="1"/>
          <p:nvPr/>
        </p:nvSpPr>
        <p:spPr>
          <a:xfrm>
            <a:off x="3180994" y="2524124"/>
            <a:ext cx="28697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/>
              <a:t>K-Nearest </a:t>
            </a:r>
            <a:r>
              <a:rPr lang="en-US" sz="1400" i="1" dirty="0" err="1"/>
              <a:t>Neighbours</a:t>
            </a:r>
            <a:r>
              <a:rPr lang="en-US" sz="1400" i="1" dirty="0"/>
              <a:t> (KNN)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66F26F3A-1F00-E06E-3B5C-0937120FEA94}"/>
              </a:ext>
            </a:extLst>
          </p:cNvPr>
          <p:cNvSpPr txBox="1"/>
          <p:nvPr/>
        </p:nvSpPr>
        <p:spPr>
          <a:xfrm>
            <a:off x="1069288" y="2296505"/>
            <a:ext cx="21561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/>
              <a:t>Linear/logistic regression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F11105B6-8520-861B-5B8E-1B6F24763C8D}"/>
              </a:ext>
            </a:extLst>
          </p:cNvPr>
          <p:cNvSpPr txBox="1"/>
          <p:nvPr/>
        </p:nvSpPr>
        <p:spPr>
          <a:xfrm>
            <a:off x="5040964" y="2807586"/>
            <a:ext cx="23717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/>
              <a:t>Decision trees/Random forest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71A0DA65-DFEF-E520-C14A-78CE3EE51981}"/>
              </a:ext>
            </a:extLst>
          </p:cNvPr>
          <p:cNvSpPr txBox="1"/>
          <p:nvPr/>
        </p:nvSpPr>
        <p:spPr>
          <a:xfrm>
            <a:off x="3295659" y="2896312"/>
            <a:ext cx="17819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/>
              <a:t>Ensemble methods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22EE2265-877C-DC7E-CA0C-05ED6A8CF337}"/>
              </a:ext>
            </a:extLst>
          </p:cNvPr>
          <p:cNvSpPr txBox="1"/>
          <p:nvPr/>
        </p:nvSpPr>
        <p:spPr>
          <a:xfrm>
            <a:off x="1509355" y="4360272"/>
            <a:ext cx="26088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/>
              <a:t>Deep reinforcement learning</a:t>
            </a: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2DDE282A-2F3A-A71B-D6E2-8336EBFCFE5E}"/>
              </a:ext>
            </a:extLst>
          </p:cNvPr>
          <p:cNvSpPr txBox="1"/>
          <p:nvPr/>
        </p:nvSpPr>
        <p:spPr>
          <a:xfrm>
            <a:off x="1589346" y="3960470"/>
            <a:ext cx="26088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/>
              <a:t>Convolutional neural networks</a:t>
            </a: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6EDE5E64-4751-7ADC-096B-9D1610AC9DDA}"/>
              </a:ext>
            </a:extLst>
          </p:cNvPr>
          <p:cNvSpPr txBox="1"/>
          <p:nvPr/>
        </p:nvSpPr>
        <p:spPr>
          <a:xfrm>
            <a:off x="4045535" y="4941631"/>
            <a:ext cx="28697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/>
              <a:t>Long short-term memory networks</a:t>
            </a:r>
          </a:p>
        </p:txBody>
      </p:sp>
      <p:sp>
        <p:nvSpPr>
          <p:cNvPr id="37" name="Textfeld 36">
            <a:extLst>
              <a:ext uri="{FF2B5EF4-FFF2-40B4-BE49-F238E27FC236}">
                <a16:creationId xmlns:a16="http://schemas.microsoft.com/office/drawing/2014/main" id="{AEAC35AE-4F3E-FAD6-F447-AADC38F852EE}"/>
              </a:ext>
            </a:extLst>
          </p:cNvPr>
          <p:cNvSpPr txBox="1"/>
          <p:nvPr/>
        </p:nvSpPr>
        <p:spPr>
          <a:xfrm>
            <a:off x="1413087" y="5189977"/>
            <a:ext cx="28697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/>
              <a:t>Transformer models (BERT, GTP, …)</a:t>
            </a: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63CBB2E6-3D1F-3262-C46A-D363CAA9EC97}"/>
              </a:ext>
            </a:extLst>
          </p:cNvPr>
          <p:cNvSpPr txBox="1"/>
          <p:nvPr/>
        </p:nvSpPr>
        <p:spPr>
          <a:xfrm>
            <a:off x="2646405" y="5519519"/>
            <a:ext cx="28697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/>
              <a:t>Generative artificial networks (GAN)</a:t>
            </a:r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6A6D1935-04D7-C3E5-D486-DCB04A048B85}"/>
              </a:ext>
            </a:extLst>
          </p:cNvPr>
          <p:cNvSpPr txBox="1"/>
          <p:nvPr/>
        </p:nvSpPr>
        <p:spPr>
          <a:xfrm>
            <a:off x="1413087" y="4729922"/>
            <a:ext cx="28697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/>
              <a:t>Deep autoencoders</a:t>
            </a:r>
          </a:p>
        </p:txBody>
      </p:sp>
      <p:sp>
        <p:nvSpPr>
          <p:cNvPr id="40" name="Textfeld 39">
            <a:extLst>
              <a:ext uri="{FF2B5EF4-FFF2-40B4-BE49-F238E27FC236}">
                <a16:creationId xmlns:a16="http://schemas.microsoft.com/office/drawing/2014/main" id="{FFA760B8-2860-54CB-B2B9-939DFDB62366}"/>
              </a:ext>
            </a:extLst>
          </p:cNvPr>
          <p:cNvSpPr txBox="1"/>
          <p:nvPr/>
        </p:nvSpPr>
        <p:spPr>
          <a:xfrm>
            <a:off x="4422574" y="4588681"/>
            <a:ext cx="17819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/>
              <a:t>Deep belief networks</a:t>
            </a:r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2CD44BCB-8BAC-3E99-7B48-53CA0F12DB8A}"/>
              </a:ext>
            </a:extLst>
          </p:cNvPr>
          <p:cNvSpPr txBox="1"/>
          <p:nvPr/>
        </p:nvSpPr>
        <p:spPr>
          <a:xfrm>
            <a:off x="4186608" y="4129024"/>
            <a:ext cx="28697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/>
              <a:t>Recurrent neural networks</a:t>
            </a: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C4AA5271-DDB5-0325-C84B-0792FFC4B5BF}"/>
              </a:ext>
            </a:extLst>
          </p:cNvPr>
          <p:cNvSpPr txBox="1"/>
          <p:nvPr/>
        </p:nvSpPr>
        <p:spPr>
          <a:xfrm>
            <a:off x="3973156" y="3228887"/>
            <a:ext cx="215610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i="1" dirty="0"/>
              <a:t>Reinforcement learning</a:t>
            </a:r>
          </a:p>
        </p:txBody>
      </p:sp>
    </p:spTree>
    <p:extLst>
      <p:ext uri="{BB962C8B-B14F-4D97-AF65-F5344CB8AC3E}">
        <p14:creationId xmlns:p14="http://schemas.microsoft.com/office/powerpoint/2010/main" val="16577354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i_ml_dl" id="{BBA4903B-60B6-4FAC-83DB-C6F652366B64}" vid="{20E15014-68ED-4973-9F76-D1628950198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ai_ml_dl</Template>
  <TotalTime>0</TotalTime>
  <Words>91</Words>
  <Application>Microsoft Office PowerPoint</Application>
  <PresentationFormat>Benutzerdefiniert</PresentationFormat>
  <Paragraphs>28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Gerit Wagner</dc:creator>
  <cp:lastModifiedBy>Gerit Wagner</cp:lastModifiedBy>
  <cp:revision>2</cp:revision>
  <dcterms:created xsi:type="dcterms:W3CDTF">2026-04-19T19:51:10Z</dcterms:created>
  <dcterms:modified xsi:type="dcterms:W3CDTF">2026-04-19T19:53:37Z</dcterms:modified>
</cp:coreProperties>
</file>